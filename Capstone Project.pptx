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1"/>
  </p:notesMasterIdLst>
  <p:handoutMasterIdLst>
    <p:handoutMasterId r:id="rId52"/>
  </p:handoutMasterIdLst>
  <p:sldIdLst>
    <p:sldId id="327" r:id="rId5"/>
    <p:sldId id="330" r:id="rId6"/>
    <p:sldId id="331" r:id="rId7"/>
    <p:sldId id="332" r:id="rId8"/>
    <p:sldId id="298" r:id="rId9"/>
    <p:sldId id="262" r:id="rId10"/>
    <p:sldId id="263" r:id="rId11"/>
    <p:sldId id="299" r:id="rId12"/>
    <p:sldId id="302" r:id="rId13"/>
    <p:sldId id="264" r:id="rId14"/>
    <p:sldId id="266" r:id="rId15"/>
    <p:sldId id="265" r:id="rId16"/>
    <p:sldId id="276" r:id="rId17"/>
    <p:sldId id="303" r:id="rId18"/>
    <p:sldId id="293" r:id="rId19"/>
    <p:sldId id="277" r:id="rId20"/>
    <p:sldId id="284" r:id="rId21"/>
    <p:sldId id="269" r:id="rId22"/>
    <p:sldId id="304" r:id="rId23"/>
    <p:sldId id="305" r:id="rId24"/>
    <p:sldId id="307" r:id="rId25"/>
    <p:sldId id="306" r:id="rId26"/>
    <p:sldId id="308" r:id="rId27"/>
    <p:sldId id="270" r:id="rId28"/>
    <p:sldId id="309" r:id="rId29"/>
    <p:sldId id="310" r:id="rId30"/>
    <p:sldId id="311" r:id="rId31"/>
    <p:sldId id="312" r:id="rId32"/>
    <p:sldId id="314" r:id="rId33"/>
    <p:sldId id="313" r:id="rId34"/>
    <p:sldId id="315" r:id="rId35"/>
    <p:sldId id="316" r:id="rId36"/>
    <p:sldId id="317" r:id="rId37"/>
    <p:sldId id="294" r:id="rId38"/>
    <p:sldId id="296" r:id="rId39"/>
    <p:sldId id="318" r:id="rId40"/>
    <p:sldId id="319" r:id="rId41"/>
    <p:sldId id="321" r:id="rId42"/>
    <p:sldId id="322" r:id="rId43"/>
    <p:sldId id="323" r:id="rId44"/>
    <p:sldId id="324" r:id="rId45"/>
    <p:sldId id="288" r:id="rId46"/>
    <p:sldId id="289" r:id="rId47"/>
    <p:sldId id="320" r:id="rId48"/>
    <p:sldId id="274" r:id="rId49"/>
    <p:sldId id="329" r:id="rId50"/>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varScale="1">
        <p:scale>
          <a:sx n="70" d="100"/>
          <a:sy n="70" d="100"/>
        </p:scale>
        <p:origin x="1373"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4/20/2024</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16</a:t>
            </a:fld>
            <a:endParaRPr lang="en-US"/>
          </a:p>
        </p:txBody>
      </p:sp>
    </p:spTree>
    <p:extLst>
      <p:ext uri="{BB962C8B-B14F-4D97-AF65-F5344CB8AC3E}">
        <p14:creationId xmlns:p14="http://schemas.microsoft.com/office/powerpoint/2010/main" val="392496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4/20/2024</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&lt;Ghazal Ashraf&gt;</a:t>
            </a:r>
          </a:p>
          <a:p>
            <a:r>
              <a:rPr lang="en-US" dirty="0">
                <a:solidFill>
                  <a:schemeClr val="bg2"/>
                </a:solidFill>
                <a:latin typeface="Abadi" panose="020B0604020104020204" pitchFamily="34" charset="0"/>
                <a:ea typeface="SF Pro" pitchFamily="2" charset="0"/>
                <a:cs typeface="SF Pro" pitchFamily="2" charset="0"/>
              </a:rPr>
              <a:t>&lt;20-04-2024&gt;</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1360714"/>
            <a:ext cx="10133640" cy="5334000"/>
          </a:xfrm>
          <a:prstGeom prst="rect">
            <a:avLst/>
          </a:prstGeom>
        </p:spPr>
        <p:txBody>
          <a:bodyPr lIns="91440" tIns="45720" rIns="91440" bIns="45720" anchor="t">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b="1" dirty="0">
                <a:solidFill>
                  <a:schemeClr val="accent3">
                    <a:lumMod val="25000"/>
                  </a:schemeClr>
                </a:solidFill>
                <a:latin typeface="Abadi" panose="020B0604020104020204" pitchFamily="34" charset="0"/>
              </a:rPr>
              <a:t>Summary of methodologies</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Data Collection through API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Data Collection with Web Scraping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Data Wrangling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Exploratory Data Analysis with SQL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Exploratory Data Analysis with Data Visualization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Interactive Visual Analytics with Folium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Machine Learning Prediction</a:t>
            </a:r>
          </a:p>
          <a:p>
            <a:pPr>
              <a:lnSpc>
                <a:spcPct val="100000"/>
              </a:lnSpc>
              <a:spcBef>
                <a:spcPts val="1400"/>
              </a:spcBef>
            </a:pPr>
            <a:r>
              <a:rPr lang="en-US" sz="2200" b="1" dirty="0">
                <a:solidFill>
                  <a:schemeClr val="accent3">
                    <a:lumMod val="25000"/>
                  </a:schemeClr>
                </a:solidFill>
                <a:latin typeface="Abadi" panose="020B0604020104020204" pitchFamily="34" charset="0"/>
              </a:rPr>
              <a:t>Summary of all results</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Exploratory Data Analysis result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Interactive analytics in screenshots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Predictive Analytics result</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958696" y="1491343"/>
            <a:ext cx="10231817" cy="509451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200" b="1" dirty="0">
                <a:solidFill>
                  <a:schemeClr val="accent3">
                    <a:lumMod val="25000"/>
                  </a:schemeClr>
                </a:solidFill>
                <a:latin typeface="Abadi" panose="020B0604020104020204" pitchFamily="34" charset="0"/>
              </a:rPr>
              <a:t>Project background and context</a:t>
            </a:r>
          </a:p>
          <a:p>
            <a:pPr marL="0" indent="0">
              <a:spcBef>
                <a:spcPts val="1400"/>
              </a:spcBef>
              <a:buNone/>
            </a:pPr>
            <a:r>
              <a:rPr lang="en-US" sz="2200" dirty="0">
                <a:solidFill>
                  <a:schemeClr val="accent3">
                    <a:lumMod val="25000"/>
                  </a:schemeClr>
                </a:solidFill>
                <a:latin typeface="Abadi" panose="020B0604020104020204" pitchFamily="34" charset="0"/>
              </a:rPr>
              <a:t>On its website, Space X promotes Falcon 9 rocket launches at a price of 62 million dollars; in comparison, other suppliers charge up to 165 million dollars per launch; a large portion of the cost savings are attributable to Space X's ability to reuse the first stage. Thus, we can calculate the cost of a launch if we can ascertain if the first stage will land. This data may be </a:t>
            </a:r>
            <a:r>
              <a:rPr lang="en-US" sz="2200" dirty="0" err="1">
                <a:solidFill>
                  <a:schemeClr val="accent3">
                    <a:lumMod val="25000"/>
                  </a:schemeClr>
                </a:solidFill>
                <a:latin typeface="Abadi" panose="020B0604020104020204" pitchFamily="34" charset="0"/>
              </a:rPr>
              <a:t>utilised</a:t>
            </a:r>
            <a:r>
              <a:rPr lang="en-US" sz="2200" dirty="0">
                <a:solidFill>
                  <a:schemeClr val="accent3">
                    <a:lumMod val="25000"/>
                  </a:schemeClr>
                </a:solidFill>
                <a:latin typeface="Abadi" panose="020B0604020104020204" pitchFamily="34" charset="0"/>
              </a:rPr>
              <a:t> should another business wish to submit a bid for a rocket launch against Space X. The project's objective is to develop a machine learning pipeline to determine whether the initial stage will land successfully.</a:t>
            </a:r>
          </a:p>
          <a:p>
            <a:pPr>
              <a:spcBef>
                <a:spcPts val="1400"/>
              </a:spcBef>
            </a:pPr>
            <a:r>
              <a:rPr lang="en-US" sz="2200" b="1" dirty="0">
                <a:solidFill>
                  <a:schemeClr val="accent3">
                    <a:lumMod val="25000"/>
                  </a:schemeClr>
                </a:solidFill>
                <a:latin typeface="Abadi" panose="020B0604020104020204" pitchFamily="34" charset="0"/>
              </a:rPr>
              <a:t>Problems you want to find answers</a:t>
            </a:r>
          </a:p>
          <a:p>
            <a:pPr>
              <a:spcBef>
                <a:spcPts val="1400"/>
              </a:spcBef>
              <a:buFontTx/>
              <a:buChar char="-"/>
            </a:pPr>
            <a:r>
              <a:rPr lang="en-US" sz="2200" dirty="0">
                <a:solidFill>
                  <a:schemeClr val="accent3">
                    <a:lumMod val="25000"/>
                  </a:schemeClr>
                </a:solidFill>
                <a:latin typeface="Abadi" panose="020B0604020104020204" pitchFamily="34" charset="0"/>
              </a:rPr>
              <a:t>What factors determine if the rocket will land successfully? </a:t>
            </a:r>
          </a:p>
          <a:p>
            <a:pPr>
              <a:spcBef>
                <a:spcPts val="1400"/>
              </a:spcBef>
              <a:buFontTx/>
              <a:buChar char="-"/>
            </a:pPr>
            <a:r>
              <a:rPr lang="en-US" sz="2200" dirty="0">
                <a:solidFill>
                  <a:schemeClr val="accent3">
                    <a:lumMod val="25000"/>
                  </a:schemeClr>
                </a:solidFill>
                <a:latin typeface="Abadi" panose="020B0604020104020204" pitchFamily="34" charset="0"/>
              </a:rPr>
              <a:t>The interaction amongst various features that determine the success rate of a successful landing. </a:t>
            </a:r>
          </a:p>
          <a:p>
            <a:pPr marL="0" indent="0">
              <a:spcBef>
                <a:spcPts val="1400"/>
              </a:spcBef>
              <a:buNone/>
            </a:pPr>
            <a:r>
              <a:rPr lang="en-US" sz="2200" dirty="0">
                <a:solidFill>
                  <a:schemeClr val="accent3">
                    <a:lumMod val="25000"/>
                  </a:schemeClr>
                </a:solidFill>
                <a:latin typeface="Abadi" panose="020B0604020104020204" pitchFamily="34" charset="0"/>
              </a:rPr>
              <a:t>- What operating conditions needs to be in place to ensure a successful landing program.</a:t>
            </a: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25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 methodology:</a:t>
            </a:r>
          </a:p>
          <a:p>
            <a:pPr marL="457200" lvl="1" indent="0">
              <a:lnSpc>
                <a:spcPct val="120000"/>
              </a:lnSpc>
              <a:spcBef>
                <a:spcPts val="1400"/>
              </a:spcBef>
              <a:buNone/>
            </a:pPr>
            <a:r>
              <a:rPr lang="en-US" sz="7600" dirty="0">
                <a:solidFill>
                  <a:schemeClr val="bg2">
                    <a:lumMod val="50000"/>
                  </a:schemeClr>
                </a:solidFill>
                <a:latin typeface="Abadi"/>
              </a:rPr>
              <a:t> • Data was collected using SpaceX API and web scraping from Wikipedia</a:t>
            </a:r>
          </a:p>
          <a:p>
            <a:pPr>
              <a:lnSpc>
                <a:spcPct val="120000"/>
              </a:lnSpc>
              <a:spcBef>
                <a:spcPts val="1400"/>
              </a:spcBef>
            </a:pPr>
            <a:r>
              <a:rPr lang="en-US" sz="8800" dirty="0">
                <a:solidFill>
                  <a:schemeClr val="accent3">
                    <a:lumMod val="25000"/>
                  </a:schemeClr>
                </a:solidFill>
                <a:latin typeface="Abadi"/>
              </a:rPr>
              <a:t>Perform data wrangling</a:t>
            </a:r>
          </a:p>
          <a:p>
            <a:pPr lvl="1">
              <a:lnSpc>
                <a:spcPct val="120000"/>
              </a:lnSpc>
              <a:spcBef>
                <a:spcPts val="1400"/>
              </a:spcBef>
            </a:pPr>
            <a:r>
              <a:rPr lang="en-US" sz="7600" dirty="0">
                <a:solidFill>
                  <a:schemeClr val="bg2">
                    <a:lumMod val="50000"/>
                  </a:schemeClr>
                </a:solidFill>
                <a:latin typeface="Abadi"/>
              </a:rPr>
              <a:t>One-hot encoding was applied to categorical features</a:t>
            </a:r>
          </a:p>
          <a:p>
            <a:pPr>
              <a:lnSpc>
                <a:spcPct val="120000"/>
              </a:lnSpc>
              <a:spcBef>
                <a:spcPts val="1400"/>
              </a:spcBef>
            </a:pPr>
            <a:r>
              <a:rPr lang="en-US" sz="88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8800" dirty="0">
                <a:solidFill>
                  <a:schemeClr val="accent3">
                    <a:lumMod val="25000"/>
                  </a:schemeClr>
                </a:solidFill>
                <a:latin typeface="Abadi"/>
              </a:rPr>
              <a:t>Perform interactive visual analytics using Folium and </a:t>
            </a:r>
            <a:r>
              <a:rPr lang="en-US" sz="8800" dirty="0" err="1">
                <a:solidFill>
                  <a:schemeClr val="accent3">
                    <a:lumMod val="25000"/>
                  </a:schemeClr>
                </a:solidFill>
                <a:latin typeface="Abadi"/>
              </a:rPr>
              <a:t>Plotly</a:t>
            </a:r>
            <a:r>
              <a:rPr lang="en-US" sz="8800" dirty="0">
                <a:solidFill>
                  <a:schemeClr val="accent3">
                    <a:lumMod val="25000"/>
                  </a:schemeClr>
                </a:solidFill>
                <a:latin typeface="Abadi"/>
              </a:rPr>
              <a:t> Dash</a:t>
            </a:r>
          </a:p>
          <a:p>
            <a:pPr>
              <a:lnSpc>
                <a:spcPct val="120000"/>
              </a:lnSpc>
              <a:spcBef>
                <a:spcPts val="1400"/>
              </a:spcBef>
            </a:pPr>
            <a:r>
              <a:rPr lang="en-US" sz="8800" dirty="0">
                <a:solidFill>
                  <a:schemeClr val="accent3">
                    <a:lumMod val="25000"/>
                  </a:schemeClr>
                </a:solidFill>
                <a:latin typeface="Abadi"/>
              </a:rPr>
              <a:t>Perform predictive analysis using classification models</a:t>
            </a:r>
          </a:p>
          <a:p>
            <a:pPr lvl="1">
              <a:lnSpc>
                <a:spcPct val="120000"/>
              </a:lnSpc>
              <a:spcBef>
                <a:spcPts val="1400"/>
              </a:spcBef>
            </a:pPr>
            <a:r>
              <a:rPr lang="en-US" sz="7600" dirty="0">
                <a:solidFill>
                  <a:schemeClr val="bg2">
                    <a:lumMod val="50000"/>
                  </a:schemeClr>
                </a:solidFill>
                <a:latin typeface="Abadi"/>
              </a:rPr>
              <a:t>How to build, tune, evaluate classification models</a:t>
            </a:r>
          </a:p>
          <a:p>
            <a:pPr>
              <a:lnSpc>
                <a:spcPct val="120000"/>
              </a:lnSpc>
              <a:spcBef>
                <a:spcPts val="1400"/>
              </a:spcBef>
            </a:pPr>
            <a:endParaRPr lang="en-US" sz="88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data was collected using various methods </a:t>
            </a:r>
          </a:p>
          <a:p>
            <a:pPr>
              <a:lnSpc>
                <a:spcPct val="100000"/>
              </a:lnSpc>
              <a:spcBef>
                <a:spcPts val="1400"/>
              </a:spcBef>
            </a:pPr>
            <a:r>
              <a:rPr lang="en-US" sz="2200" dirty="0">
                <a:solidFill>
                  <a:schemeClr val="accent3">
                    <a:lumMod val="25000"/>
                  </a:schemeClr>
                </a:solidFill>
                <a:latin typeface="Abadi" panose="020B0604020104020204" pitchFamily="34" charset="0"/>
              </a:rPr>
              <a:t>- Data collection was done using get request to the SpaceX API. </a:t>
            </a:r>
          </a:p>
          <a:p>
            <a:pPr>
              <a:lnSpc>
                <a:spcPct val="100000"/>
              </a:lnSpc>
              <a:spcBef>
                <a:spcPts val="1400"/>
              </a:spcBef>
            </a:pPr>
            <a:r>
              <a:rPr lang="en-US" sz="2200" dirty="0">
                <a:solidFill>
                  <a:schemeClr val="accent3">
                    <a:lumMod val="25000"/>
                  </a:schemeClr>
                </a:solidFill>
                <a:latin typeface="Abadi" panose="020B0604020104020204" pitchFamily="34" charset="0"/>
              </a:rPr>
              <a:t>- Next, we decoded the response content as a Json using .</a:t>
            </a:r>
            <a:r>
              <a:rPr lang="en-US" sz="2200" dirty="0" err="1">
                <a:solidFill>
                  <a:schemeClr val="accent3">
                    <a:lumMod val="25000"/>
                  </a:schemeClr>
                </a:solidFill>
                <a:latin typeface="Abadi" panose="020B0604020104020204" pitchFamily="34" charset="0"/>
              </a:rPr>
              <a:t>json</a:t>
            </a:r>
            <a:r>
              <a:rPr lang="en-US" sz="2200" dirty="0">
                <a:solidFill>
                  <a:schemeClr val="accent3">
                    <a:lumMod val="25000"/>
                  </a:schemeClr>
                </a:solidFill>
                <a:latin typeface="Abadi" panose="020B0604020104020204" pitchFamily="34" charset="0"/>
              </a:rPr>
              <a:t>() function call and turn it into a pandas </a:t>
            </a:r>
            <a:r>
              <a:rPr lang="en-US" sz="2200" dirty="0" err="1">
                <a:solidFill>
                  <a:schemeClr val="accent3">
                    <a:lumMod val="25000"/>
                  </a:schemeClr>
                </a:solidFill>
                <a:latin typeface="Abadi" panose="020B0604020104020204" pitchFamily="34" charset="0"/>
              </a:rPr>
              <a:t>dataframe</a:t>
            </a:r>
            <a:r>
              <a:rPr lang="en-US" sz="2200" dirty="0">
                <a:solidFill>
                  <a:schemeClr val="accent3">
                    <a:lumMod val="25000"/>
                  </a:schemeClr>
                </a:solidFill>
                <a:latin typeface="Abadi" panose="020B0604020104020204" pitchFamily="34" charset="0"/>
              </a:rPr>
              <a:t> using .</a:t>
            </a:r>
            <a:r>
              <a:rPr lang="en-US" sz="2200" dirty="0" err="1">
                <a:solidFill>
                  <a:schemeClr val="accent3">
                    <a:lumMod val="25000"/>
                  </a:schemeClr>
                </a:solidFill>
                <a:latin typeface="Abadi" panose="020B0604020104020204" pitchFamily="34" charset="0"/>
              </a:rPr>
              <a:t>json_normalize</a:t>
            </a:r>
            <a:r>
              <a:rPr lang="en-US" sz="2200" dirty="0">
                <a:solidFill>
                  <a:schemeClr val="accent3">
                    <a:lumMod val="25000"/>
                  </a:schemeClr>
                </a:solidFill>
                <a:latin typeface="Abadi" panose="020B0604020104020204" pitchFamily="34" charset="0"/>
              </a:rPr>
              <a:t>(). </a:t>
            </a:r>
          </a:p>
          <a:p>
            <a:pPr>
              <a:lnSpc>
                <a:spcPct val="100000"/>
              </a:lnSpc>
              <a:spcBef>
                <a:spcPts val="1400"/>
              </a:spcBef>
            </a:pPr>
            <a:r>
              <a:rPr lang="en-US" sz="2200" dirty="0">
                <a:solidFill>
                  <a:schemeClr val="accent3">
                    <a:lumMod val="25000"/>
                  </a:schemeClr>
                </a:solidFill>
                <a:latin typeface="Abadi" panose="020B0604020104020204" pitchFamily="34" charset="0"/>
              </a:rPr>
              <a:t>- We then cleaned the data, checked for missing values and fill in missing values where necessary. </a:t>
            </a:r>
          </a:p>
          <a:p>
            <a:pPr>
              <a:lnSpc>
                <a:spcPct val="100000"/>
              </a:lnSpc>
              <a:spcBef>
                <a:spcPts val="1400"/>
              </a:spcBef>
            </a:pPr>
            <a:r>
              <a:rPr lang="en-US" sz="2200" dirty="0">
                <a:solidFill>
                  <a:schemeClr val="accent3">
                    <a:lumMod val="25000"/>
                  </a:schemeClr>
                </a:solidFill>
                <a:latin typeface="Abadi" panose="020B0604020104020204" pitchFamily="34" charset="0"/>
              </a:rPr>
              <a:t>- In addition, we performed web scraping from Wikipedia for Falcon 9 launch records with </a:t>
            </a:r>
            <a:r>
              <a:rPr lang="en-US" sz="2200" dirty="0" err="1">
                <a:solidFill>
                  <a:schemeClr val="accent3">
                    <a:lumMod val="25000"/>
                  </a:schemeClr>
                </a:solidFill>
                <a:latin typeface="Abadi" panose="020B0604020104020204" pitchFamily="34" charset="0"/>
              </a:rPr>
              <a:t>BeautifulSoup</a:t>
            </a:r>
            <a:r>
              <a:rPr lang="en-US" sz="2200" dirty="0">
                <a:solidFill>
                  <a:schemeClr val="accent3">
                    <a:lumMod val="25000"/>
                  </a:schemeClr>
                </a:solidFill>
                <a:latin typeface="Abadi" panose="020B0604020104020204" pitchFamily="34" charset="0"/>
              </a:rPr>
              <a:t>. </a:t>
            </a:r>
          </a:p>
          <a:p>
            <a:pPr>
              <a:lnSpc>
                <a:spcPct val="100000"/>
              </a:lnSpc>
              <a:spcBef>
                <a:spcPts val="1400"/>
              </a:spcBef>
            </a:pPr>
            <a:r>
              <a:rPr lang="en-US" sz="2200" dirty="0">
                <a:solidFill>
                  <a:schemeClr val="accent3">
                    <a:lumMod val="25000"/>
                  </a:schemeClr>
                </a:solidFill>
                <a:latin typeface="Abadi" panose="020B0604020104020204" pitchFamily="34" charset="0"/>
              </a:rPr>
              <a:t>- The objective was to extract the launch records as HTML table, parse the table and convert it to a pandas </a:t>
            </a:r>
            <a:r>
              <a:rPr lang="en-US" sz="2200" dirty="0" err="1">
                <a:solidFill>
                  <a:schemeClr val="accent3">
                    <a:lumMod val="25000"/>
                  </a:schemeClr>
                </a:solidFill>
                <a:latin typeface="Abadi" panose="020B0604020104020204" pitchFamily="34" charset="0"/>
              </a:rPr>
              <a:t>dataframe</a:t>
            </a:r>
            <a:r>
              <a:rPr lang="en-US" sz="2200" dirty="0">
                <a:solidFill>
                  <a:schemeClr val="accent3">
                    <a:lumMod val="25000"/>
                  </a:schemeClr>
                </a:solidFill>
                <a:latin typeface="Abadi" panose="020B0604020104020204" pitchFamily="34" charset="0"/>
              </a:rPr>
              <a:t> for future analysis.</a:t>
            </a: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4640263" cy="4225925"/>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used the get request to the SpaceX API to collect data, clean the requested data and did some basic data wrangling and formatting.</a:t>
            </a:r>
            <a:endParaRPr lang="en-US" sz="2200" dirty="0">
              <a:solidFill>
                <a:schemeClr val="accent3">
                  <a:lumMod val="25000"/>
                </a:schemeClr>
              </a:solidFill>
              <a:latin typeface="Abadi"/>
            </a:endParaRPr>
          </a:p>
          <a:p>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pic>
        <p:nvPicPr>
          <p:cNvPr id="7" name="Picture 6" descr="A screenshot of a chat&#10;&#10;Description automatically generated">
            <a:extLst>
              <a:ext uri="{FF2B5EF4-FFF2-40B4-BE49-F238E27FC236}">
                <a16:creationId xmlns:a16="http://schemas.microsoft.com/office/drawing/2014/main" id="{6480510C-D1A2-E05D-8AC8-7650DAA74D94}"/>
              </a:ext>
            </a:extLst>
          </p:cNvPr>
          <p:cNvPicPr>
            <a:picLocks noChangeAspect="1"/>
          </p:cNvPicPr>
          <p:nvPr/>
        </p:nvPicPr>
        <p:blipFill>
          <a:blip r:embed="rId3"/>
          <a:stretch>
            <a:fillRect/>
          </a:stretch>
        </p:blipFill>
        <p:spPr>
          <a:xfrm>
            <a:off x="5910262" y="1787023"/>
            <a:ext cx="5461000" cy="4252328"/>
          </a:xfrm>
          <a:prstGeom prst="rect">
            <a:avLst/>
          </a:prstGeom>
        </p:spPr>
      </p:pic>
    </p:spTree>
    <p:extLst>
      <p:ext uri="{BB962C8B-B14F-4D97-AF65-F5344CB8AC3E}">
        <p14:creationId xmlns:p14="http://schemas.microsoft.com/office/powerpoint/2010/main" val="280316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792288"/>
            <a:ext cx="3932238" cy="3811587"/>
          </a:xfrm>
          <a:prstGeom prst="rect">
            <a:avLst/>
          </a:prstGeom>
        </p:spPr>
        <p:txBody>
          <a:bodyPr lIns="91440" tIns="45720" rIns="91440" bIns="45720" anchor="t">
            <a:noAutofit/>
          </a:bodyPr>
          <a:lstStyle/>
          <a:p>
            <a:pPr>
              <a:lnSpc>
                <a:spcPct val="100000"/>
              </a:lnSpc>
              <a:spcBef>
                <a:spcPts val="1400"/>
              </a:spcBef>
            </a:pPr>
            <a:r>
              <a:rPr lang="en-US" sz="2200" dirty="0">
                <a:solidFill>
                  <a:schemeClr val="accent3">
                    <a:lumMod val="25000"/>
                  </a:schemeClr>
                </a:solidFill>
                <a:latin typeface="Abadi"/>
              </a:rPr>
              <a:t>We applied web scrapping to </a:t>
            </a:r>
            <a:r>
              <a:rPr lang="en-US" sz="2200" dirty="0" err="1">
                <a:solidFill>
                  <a:schemeClr val="accent3">
                    <a:lumMod val="25000"/>
                  </a:schemeClr>
                </a:solidFill>
                <a:latin typeface="Abadi"/>
              </a:rPr>
              <a:t>webscrap</a:t>
            </a:r>
            <a:r>
              <a:rPr lang="en-US" sz="2200" dirty="0">
                <a:solidFill>
                  <a:schemeClr val="accent3">
                    <a:lumMod val="25000"/>
                  </a:schemeClr>
                </a:solidFill>
                <a:latin typeface="Abadi"/>
              </a:rPr>
              <a:t> Falcon 9 launch records with </a:t>
            </a:r>
            <a:r>
              <a:rPr lang="en-US" sz="2200" dirty="0" err="1">
                <a:solidFill>
                  <a:schemeClr val="accent3">
                    <a:lumMod val="25000"/>
                  </a:schemeClr>
                </a:solidFill>
                <a:latin typeface="Abadi"/>
              </a:rPr>
              <a:t>BeautifulSoup</a:t>
            </a:r>
            <a:r>
              <a:rPr lang="en-US" sz="2200" dirty="0">
                <a:solidFill>
                  <a:schemeClr val="accent3">
                    <a:lumMod val="25000"/>
                  </a:schemeClr>
                </a:solidFill>
                <a:latin typeface="Abadi"/>
              </a:rPr>
              <a:t> </a:t>
            </a:r>
          </a:p>
          <a:p>
            <a:pPr marL="0" indent="0">
              <a:lnSpc>
                <a:spcPct val="100000"/>
              </a:lnSpc>
              <a:spcBef>
                <a:spcPts val="1400"/>
              </a:spcBef>
              <a:buNone/>
            </a:pPr>
            <a:r>
              <a:rPr lang="en-US" sz="2200" dirty="0">
                <a:solidFill>
                  <a:schemeClr val="accent3">
                    <a:lumMod val="25000"/>
                  </a:schemeClr>
                </a:solidFill>
                <a:latin typeface="Abadi"/>
              </a:rPr>
              <a:t>• We parsed the table and converted it into a pandas </a:t>
            </a:r>
            <a:r>
              <a:rPr lang="en-US" sz="2200" dirty="0" err="1">
                <a:solidFill>
                  <a:schemeClr val="accent3">
                    <a:lumMod val="25000"/>
                  </a:schemeClr>
                </a:solidFill>
                <a:latin typeface="Abadi"/>
              </a:rPr>
              <a:t>dataframe</a:t>
            </a:r>
            <a:r>
              <a:rPr lang="en-US" sz="2200" dirty="0">
                <a:solidFill>
                  <a:schemeClr val="accent3">
                    <a:lumMod val="25000"/>
                  </a:schemeClr>
                </a:solidFill>
                <a:latin typeface="Abadi"/>
              </a:rPr>
              <a:t>.</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
        <p:nvSpPr>
          <p:cNvPr id="2" name="Content Placeholder 4">
            <a:extLst>
              <a:ext uri="{FF2B5EF4-FFF2-40B4-BE49-F238E27FC236}">
                <a16:creationId xmlns:a16="http://schemas.microsoft.com/office/drawing/2014/main" id="{8B78C759-C687-440F-8CAE-D3071F1AB630}"/>
              </a:ext>
            </a:extLst>
          </p:cNvPr>
          <p:cNvSpPr txBox="1">
            <a:spLocks/>
          </p:cNvSpPr>
          <p:nvPr/>
        </p:nvSpPr>
        <p:spPr>
          <a:xfrm>
            <a:off x="5910262" y="1792288"/>
            <a:ext cx="5461000" cy="4206875"/>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a:p>
            <a:pPr marL="0" indent="0">
              <a:buFont typeface="Arial" panose="020B0604020202020204" pitchFamily="34" charset="0"/>
              <a:buNone/>
            </a:pPr>
            <a:endParaRPr lang="en-US" sz="2200" dirty="0">
              <a:solidFill>
                <a:srgbClr val="1C7DDB"/>
              </a:solidFill>
              <a:latin typeface="Abadi"/>
            </a:endParaRPr>
          </a:p>
        </p:txBody>
      </p:sp>
      <p:pic>
        <p:nvPicPr>
          <p:cNvPr id="7" name="Picture 6" descr="A screenshot of a computer&#10;&#10;Description automatically generated">
            <a:extLst>
              <a:ext uri="{FF2B5EF4-FFF2-40B4-BE49-F238E27FC236}">
                <a16:creationId xmlns:a16="http://schemas.microsoft.com/office/drawing/2014/main" id="{FB94A5A4-B094-81A9-151A-FEF267B87160}"/>
              </a:ext>
            </a:extLst>
          </p:cNvPr>
          <p:cNvPicPr>
            <a:picLocks noChangeAspect="1"/>
          </p:cNvPicPr>
          <p:nvPr/>
        </p:nvPicPr>
        <p:blipFill>
          <a:blip r:embed="rId3"/>
          <a:stretch>
            <a:fillRect/>
          </a:stretch>
        </p:blipFill>
        <p:spPr>
          <a:xfrm>
            <a:off x="5910262" y="1788434"/>
            <a:ext cx="5461000" cy="4237140"/>
          </a:xfrm>
          <a:prstGeom prst="rect">
            <a:avLst/>
          </a:prstGeom>
        </p:spPr>
      </p:pic>
    </p:spTree>
    <p:extLst>
      <p:ext uri="{BB962C8B-B14F-4D97-AF65-F5344CB8AC3E}">
        <p14:creationId xmlns:p14="http://schemas.microsoft.com/office/powerpoint/2010/main" val="1385553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10</a:t>
            </a:fld>
            <a:endParaRPr lang="en-US"/>
          </a:p>
        </p:txBody>
      </p:sp>
      <p:pic>
        <p:nvPicPr>
          <p:cNvPr id="3" name="Content Placeholder 2" descr="A diagram of the earth&#10;&#10;Description automatically generated">
            <a:extLst>
              <a:ext uri="{FF2B5EF4-FFF2-40B4-BE49-F238E27FC236}">
                <a16:creationId xmlns:a16="http://schemas.microsoft.com/office/drawing/2014/main" id="{7C6CC937-7BAE-926F-3780-3414A4575604}"/>
              </a:ext>
            </a:extLst>
          </p:cNvPr>
          <p:cNvPicPr>
            <a:picLocks noGrp="1" noChangeAspect="1"/>
          </p:cNvPicPr>
          <p:nvPr>
            <p:ph idx="4294967295"/>
          </p:nvPr>
        </p:nvPicPr>
        <p:blipFill>
          <a:blip r:embed="rId3"/>
          <a:stretch>
            <a:fillRect/>
          </a:stretch>
        </p:blipFill>
        <p:spPr>
          <a:xfrm>
            <a:off x="770011" y="1372776"/>
            <a:ext cx="5325989" cy="4946573"/>
          </a:xfrm>
          <a:prstGeom prst="rect">
            <a:avLst/>
          </a:prstGeom>
        </p:spPr>
      </p:pic>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
        <p:nvSpPr>
          <p:cNvPr id="6" name="TextBox 5">
            <a:extLst>
              <a:ext uri="{FF2B5EF4-FFF2-40B4-BE49-F238E27FC236}">
                <a16:creationId xmlns:a16="http://schemas.microsoft.com/office/drawing/2014/main" id="{15C27596-87E0-B2C9-529D-36BA8BE89E17}"/>
              </a:ext>
            </a:extLst>
          </p:cNvPr>
          <p:cNvSpPr txBox="1"/>
          <p:nvPr/>
        </p:nvSpPr>
        <p:spPr>
          <a:xfrm>
            <a:off x="6096000" y="1372776"/>
            <a:ext cx="5325989" cy="5016758"/>
          </a:xfrm>
          <a:prstGeom prst="rect">
            <a:avLst/>
          </a:prstGeom>
          <a:noFill/>
        </p:spPr>
        <p:txBody>
          <a:bodyPr wrap="square" rtlCol="0">
            <a:spAutoFit/>
          </a:bodyPr>
          <a:lstStyle/>
          <a:p>
            <a:r>
              <a:rPr lang="en-US" sz="3200" dirty="0"/>
              <a:t>• We performed exploratory data analysis and determined the training labels.</a:t>
            </a:r>
          </a:p>
          <a:p>
            <a:r>
              <a:rPr lang="en-US" sz="3200" dirty="0"/>
              <a:t>• We calculated the number of launches at each site, and the number and occurrence of each orbits </a:t>
            </a:r>
          </a:p>
          <a:p>
            <a:r>
              <a:rPr lang="en-US" sz="3200" dirty="0"/>
              <a:t>• We created landing outcome label from outcome column and exported the results to csv</a:t>
            </a:r>
            <a:endParaRPr lang="en-DE" sz="3200" dirty="0"/>
          </a:p>
        </p:txBody>
      </p:sp>
    </p:spTree>
    <p:extLst>
      <p:ext uri="{BB962C8B-B14F-4D97-AF65-F5344CB8AC3E}">
        <p14:creationId xmlns:p14="http://schemas.microsoft.com/office/powerpoint/2010/main" val="2987552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4520446" cy="3247118"/>
          </a:xfrm>
          <a:prstGeom prst="rect">
            <a:avLst/>
          </a:prstGeom>
        </p:spPr>
        <p:txBody>
          <a:bodyPr lIns="91440" tIns="45720" rIns="91440" bIns="45720" anchor="t"/>
          <a:lstStyle/>
          <a:p>
            <a:r>
              <a:rPr lang="en-US" dirty="0"/>
              <a:t>We explored the data by visualizing the relationship between flight number and launch Site, payload and launch site, success rate of each orbit type, flight number and orbit type, the launch success yearly trend.</a:t>
            </a:r>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pic>
        <p:nvPicPr>
          <p:cNvPr id="10" name="Picture 9" descr="A graph of success rate&#10;&#10;Description automatically generated">
            <a:extLst>
              <a:ext uri="{FF2B5EF4-FFF2-40B4-BE49-F238E27FC236}">
                <a16:creationId xmlns:a16="http://schemas.microsoft.com/office/drawing/2014/main" id="{9AA92A47-F197-2290-520F-B5E8FDFFF08C}"/>
              </a:ext>
            </a:extLst>
          </p:cNvPr>
          <p:cNvPicPr>
            <a:picLocks noChangeAspect="1"/>
          </p:cNvPicPr>
          <p:nvPr/>
        </p:nvPicPr>
        <p:blipFill>
          <a:blip r:embed="rId3"/>
          <a:stretch>
            <a:fillRect/>
          </a:stretch>
        </p:blipFill>
        <p:spPr>
          <a:xfrm>
            <a:off x="5664721" y="1281682"/>
            <a:ext cx="5793251" cy="2552921"/>
          </a:xfrm>
          <a:prstGeom prst="rect">
            <a:avLst/>
          </a:prstGeom>
        </p:spPr>
      </p:pic>
      <p:pic>
        <p:nvPicPr>
          <p:cNvPr id="12" name="Picture 11" descr="A graph showing a line going up&#10;&#10;Description automatically generated">
            <a:extLst>
              <a:ext uri="{FF2B5EF4-FFF2-40B4-BE49-F238E27FC236}">
                <a16:creationId xmlns:a16="http://schemas.microsoft.com/office/drawing/2014/main" id="{43D0022F-1BB4-F513-1D74-F17ED633DA79}"/>
              </a:ext>
            </a:extLst>
          </p:cNvPr>
          <p:cNvPicPr>
            <a:picLocks noChangeAspect="1"/>
          </p:cNvPicPr>
          <p:nvPr/>
        </p:nvPicPr>
        <p:blipFill>
          <a:blip r:embed="rId4"/>
          <a:stretch>
            <a:fillRect/>
          </a:stretch>
        </p:blipFill>
        <p:spPr>
          <a:xfrm>
            <a:off x="5664720" y="3834603"/>
            <a:ext cx="5793251" cy="2758679"/>
          </a:xfrm>
          <a:prstGeom prst="rect">
            <a:avLst/>
          </a:prstGeom>
        </p:spPr>
      </p:pic>
    </p:spTree>
    <p:extLst>
      <p:ext uri="{BB962C8B-B14F-4D97-AF65-F5344CB8AC3E}">
        <p14:creationId xmlns:p14="http://schemas.microsoft.com/office/powerpoint/2010/main" val="7799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We loaded the SpaceX dataset into a PostgreSQL database without leaving the </a:t>
            </a:r>
            <a:r>
              <a:rPr lang="en-US" sz="2200" dirty="0" err="1">
                <a:solidFill>
                  <a:schemeClr val="accent3">
                    <a:lumMod val="25000"/>
                  </a:schemeClr>
                </a:solidFill>
                <a:latin typeface="Abadi"/>
              </a:rPr>
              <a:t>jupyter</a:t>
            </a:r>
            <a:r>
              <a:rPr lang="en-US" sz="2200" dirty="0">
                <a:solidFill>
                  <a:schemeClr val="accent3">
                    <a:lumMod val="25000"/>
                  </a:schemeClr>
                </a:solidFill>
                <a:latin typeface="Abadi"/>
              </a:rPr>
              <a:t> notebook. </a:t>
            </a:r>
          </a:p>
          <a:p>
            <a:pPr>
              <a:lnSpc>
                <a:spcPct val="100000"/>
              </a:lnSpc>
              <a:spcBef>
                <a:spcPts val="1400"/>
              </a:spcBef>
            </a:pPr>
            <a:r>
              <a:rPr lang="en-US" sz="2200" dirty="0">
                <a:solidFill>
                  <a:schemeClr val="accent3">
                    <a:lumMod val="25000"/>
                  </a:schemeClr>
                </a:solidFill>
                <a:latin typeface="Abadi"/>
              </a:rPr>
              <a:t>• We applied EDA with SQL to get insight from the data. </a:t>
            </a:r>
          </a:p>
          <a:p>
            <a:pPr>
              <a:lnSpc>
                <a:spcPct val="100000"/>
              </a:lnSpc>
              <a:spcBef>
                <a:spcPts val="1400"/>
              </a:spcBef>
            </a:pPr>
            <a:r>
              <a:rPr lang="en-US" sz="2200" dirty="0">
                <a:solidFill>
                  <a:schemeClr val="accent3">
                    <a:lumMod val="25000"/>
                  </a:schemeClr>
                </a:solidFill>
                <a:latin typeface="Abadi"/>
              </a:rPr>
              <a:t>We wrote queries to find out for instance: </a:t>
            </a:r>
          </a:p>
          <a:p>
            <a:pPr marL="0" indent="0">
              <a:lnSpc>
                <a:spcPct val="100000"/>
              </a:lnSpc>
              <a:spcBef>
                <a:spcPts val="1400"/>
              </a:spcBef>
              <a:buNone/>
            </a:pPr>
            <a:r>
              <a:rPr lang="en-US" sz="2200" dirty="0">
                <a:solidFill>
                  <a:schemeClr val="accent3">
                    <a:lumMod val="25000"/>
                  </a:schemeClr>
                </a:solidFill>
                <a:latin typeface="Abadi"/>
              </a:rPr>
              <a:t>- The names of unique launch sites in the space mission. </a:t>
            </a:r>
          </a:p>
          <a:p>
            <a:pPr>
              <a:lnSpc>
                <a:spcPct val="100000"/>
              </a:lnSpc>
              <a:spcBef>
                <a:spcPts val="1400"/>
              </a:spcBef>
              <a:buFontTx/>
              <a:buChar char="-"/>
            </a:pPr>
            <a:r>
              <a:rPr lang="en-US" sz="2200" dirty="0">
                <a:solidFill>
                  <a:schemeClr val="accent3">
                    <a:lumMod val="25000"/>
                  </a:schemeClr>
                </a:solidFill>
                <a:latin typeface="Abadi"/>
              </a:rPr>
              <a:t>The total payload mass carried by boosters launched by NASA (CRS) - The average payload mass carried by booster version F9 v1.1 </a:t>
            </a:r>
          </a:p>
          <a:p>
            <a:pPr>
              <a:lnSpc>
                <a:spcPct val="100000"/>
              </a:lnSpc>
              <a:spcBef>
                <a:spcPts val="1400"/>
              </a:spcBef>
              <a:buFontTx/>
              <a:buChar char="-"/>
            </a:pPr>
            <a:r>
              <a:rPr lang="en-US" sz="2200" dirty="0">
                <a:solidFill>
                  <a:schemeClr val="accent3">
                    <a:lumMod val="25000"/>
                  </a:schemeClr>
                </a:solidFill>
                <a:latin typeface="Abadi"/>
              </a:rPr>
              <a:t>The total number of successful and failure mission outcomes </a:t>
            </a:r>
          </a:p>
          <a:p>
            <a:pPr marL="0" indent="0">
              <a:lnSpc>
                <a:spcPct val="100000"/>
              </a:lnSpc>
              <a:spcBef>
                <a:spcPts val="1400"/>
              </a:spcBef>
              <a:buNone/>
            </a:pPr>
            <a:r>
              <a:rPr lang="en-US" sz="2200" dirty="0">
                <a:solidFill>
                  <a:schemeClr val="accent3">
                    <a:lumMod val="25000"/>
                  </a:schemeClr>
                </a:solidFill>
                <a:latin typeface="Abadi"/>
              </a:rPr>
              <a:t>- The failed landing outcomes in drone ship, their booster version and launch site names</a:t>
            </a:r>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lnSpcReduction="10000"/>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marked all launch sites, and added map objects such as markers, circles, lines to mark the success or failure of launches for each site on the folium map.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assigned the feature launch outcomes (failure or success) to class 0 and 1.i.e., 0 for failure, and 1 for success.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Using the color-labeled marker clusters, we identified which launch sites have relatively high success rate.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calculated the distances between a launch site to its proximities.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We answered some question for instance: </a:t>
            </a:r>
          </a:p>
          <a:p>
            <a:pPr>
              <a:lnSpc>
                <a:spcPct val="100000"/>
              </a:lnSpc>
              <a:spcBef>
                <a:spcPts val="1400"/>
              </a:spcBef>
              <a:buFontTx/>
              <a:buChar char="-"/>
            </a:pPr>
            <a:r>
              <a:rPr lang="en-US" sz="2200" dirty="0">
                <a:solidFill>
                  <a:schemeClr val="accent3">
                    <a:lumMod val="25000"/>
                  </a:schemeClr>
                </a:solidFill>
                <a:latin typeface="Abadi" panose="020B0604020104020204" pitchFamily="34" charset="0"/>
              </a:rPr>
              <a:t>Are launch sites near railways, highways and coastlines.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Do launch sites keep certain distance away from cities.</a:t>
            </a:r>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built an interactive dashboard with </a:t>
            </a:r>
            <a:r>
              <a:rPr lang="en-US" sz="2200" dirty="0" err="1">
                <a:solidFill>
                  <a:schemeClr val="accent3">
                    <a:lumMod val="25000"/>
                  </a:schemeClr>
                </a:solidFill>
                <a:latin typeface="Abadi" panose="020B0604020104020204" pitchFamily="34" charset="0"/>
              </a:rPr>
              <a:t>Plotly</a:t>
            </a:r>
            <a:r>
              <a:rPr lang="en-US" sz="2200" dirty="0">
                <a:solidFill>
                  <a:schemeClr val="accent3">
                    <a:lumMod val="25000"/>
                  </a:schemeClr>
                </a:solidFill>
                <a:latin typeface="Abadi" panose="020B0604020104020204" pitchFamily="34" charset="0"/>
              </a:rPr>
              <a:t> dash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plotted pie charts showing the total launches by a certain sites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plotted scatter graph showing the relationship with Outcome and Payload Mass (Kg) for the different booster version.</a:t>
            </a:r>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spTree>
    <p:extLst>
      <p:ext uri="{BB962C8B-B14F-4D97-AF65-F5344CB8AC3E}">
        <p14:creationId xmlns:p14="http://schemas.microsoft.com/office/powerpoint/2010/main" val="33453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loaded the data using </a:t>
            </a:r>
            <a:r>
              <a:rPr lang="en-US" sz="2200" dirty="0" err="1">
                <a:solidFill>
                  <a:schemeClr val="accent3">
                    <a:lumMod val="25000"/>
                  </a:schemeClr>
                </a:solidFill>
                <a:latin typeface="Abadi" panose="020B0604020104020204" pitchFamily="34" charset="0"/>
              </a:rPr>
              <a:t>numpy</a:t>
            </a:r>
            <a:r>
              <a:rPr lang="en-US" sz="2200" dirty="0">
                <a:solidFill>
                  <a:schemeClr val="accent3">
                    <a:lumMod val="25000"/>
                  </a:schemeClr>
                </a:solidFill>
                <a:latin typeface="Abadi" panose="020B0604020104020204" pitchFamily="34" charset="0"/>
              </a:rPr>
              <a:t> and pandas, transformed the data, split our data into training and testing.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built different machine learning models and tune different hyperparameters using </a:t>
            </a:r>
            <a:r>
              <a:rPr lang="en-US" sz="2200" dirty="0" err="1">
                <a:solidFill>
                  <a:schemeClr val="accent3">
                    <a:lumMod val="25000"/>
                  </a:schemeClr>
                </a:solidFill>
                <a:latin typeface="Abadi" panose="020B0604020104020204" pitchFamily="34" charset="0"/>
              </a:rPr>
              <a:t>GridSearchCV</a:t>
            </a:r>
            <a:r>
              <a:rPr lang="en-US" sz="2200" dirty="0">
                <a:solidFill>
                  <a:schemeClr val="accent3">
                    <a:lumMod val="25000"/>
                  </a:schemeClr>
                </a:solidFill>
                <a:latin typeface="Abadi" panose="020B0604020104020204" pitchFamily="34" charset="0"/>
              </a:rPr>
              <a:t>.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used accuracy as the metric for our model, improved the model using feature engineering and algorithm tuning.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We found the best performing classification model.</a:t>
            </a:r>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7068725" cy="1621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a:solidFill>
                  <a:schemeClr val="accent3">
                    <a:lumMod val="25000"/>
                  </a:schemeClr>
                </a:solidFill>
                <a:latin typeface="Abadi" panose="020B0604020104020204" pitchFamily="34" charset="0"/>
              </a:rPr>
              <a:t>Exploratory data analysis results</a:t>
            </a:r>
          </a:p>
          <a:p>
            <a:pPr>
              <a:lnSpc>
                <a:spcPct val="100000"/>
              </a:lnSpc>
              <a:spcBef>
                <a:spcPts val="1400"/>
              </a:spcBef>
            </a:pPr>
            <a:r>
              <a:rPr lang="en-US" sz="2200">
                <a:solidFill>
                  <a:schemeClr val="accent3">
                    <a:lumMod val="25000"/>
                  </a:schemeClr>
                </a:solidFill>
                <a:latin typeface="Abadi" panose="020B0604020104020204" pitchFamily="34" charset="0"/>
              </a:rPr>
              <a:t>Interactive analytics demo in screenshots</a:t>
            </a:r>
          </a:p>
          <a:p>
            <a:pPr>
              <a:lnSpc>
                <a:spcPct val="100000"/>
              </a:lnSpc>
              <a:spcBef>
                <a:spcPts val="1400"/>
              </a:spcBef>
            </a:pPr>
            <a:r>
              <a:rPr lang="en-US" sz="2200">
                <a:solidFill>
                  <a:schemeClr val="accent3">
                    <a:lumMod val="25000"/>
                  </a:schemeClr>
                </a:solidFill>
                <a:latin typeface="Abadi" panose="020B0604020104020204" pitchFamily="34" charset="0"/>
              </a:rPr>
              <a:t>Predictive analysis results</a:t>
            </a:r>
          </a:p>
          <a:p>
            <a:pPr lvl="1"/>
            <a:endParaRPr lang="en-US" sz="1800"/>
          </a:p>
          <a:p>
            <a:pPr marL="457200" lvl="1" indent="0">
              <a:buNone/>
            </a:pPr>
            <a:endParaRPr lang="en-US" sz="180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18</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3" y="2057400"/>
            <a:ext cx="10739198" cy="849086"/>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From the plot, we found that the larger the flight amount at a launch site, the greater the success rate at a launch site.</a:t>
            </a: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descr="A graph of numbers and points&#10;&#10;Description automatically generated with medium confidence">
            <a:extLst>
              <a:ext uri="{FF2B5EF4-FFF2-40B4-BE49-F238E27FC236}">
                <a16:creationId xmlns:a16="http://schemas.microsoft.com/office/drawing/2014/main" id="{CBBE4421-DBA1-07B7-796B-D814F7A7FF0F}"/>
              </a:ext>
            </a:extLst>
          </p:cNvPr>
          <p:cNvPicPr>
            <a:picLocks noChangeAspect="1"/>
          </p:cNvPicPr>
          <p:nvPr/>
        </p:nvPicPr>
        <p:blipFill>
          <a:blip r:embed="rId3"/>
          <a:stretch>
            <a:fillRect/>
          </a:stretch>
        </p:blipFill>
        <p:spPr>
          <a:xfrm>
            <a:off x="1394610" y="3428999"/>
            <a:ext cx="9076207" cy="2339543"/>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10515600" cy="891157"/>
          </a:xfrm>
          <a:prstGeom prst="rect">
            <a:avLst/>
          </a:prstGeom>
        </p:spPr>
        <p:txBody>
          <a:bodyPr>
            <a:normAutofit/>
          </a:bodyPr>
          <a:lstStyle/>
          <a:p>
            <a:pPr>
              <a:lnSpc>
                <a:spcPct val="100000"/>
              </a:lnSpc>
              <a:spcBef>
                <a:spcPts val="1400"/>
              </a:spcBef>
            </a:pPr>
            <a:r>
              <a:rPr lang="en-GB" sz="2200" dirty="0">
                <a:solidFill>
                  <a:schemeClr val="accent3">
                    <a:lumMod val="25000"/>
                  </a:schemeClr>
                </a:solidFill>
                <a:latin typeface="Abadi" panose="020B0604020104020204" pitchFamily="34" charset="0"/>
              </a:rPr>
              <a:t>The greater the payload mass for launch site CCAFS SLC 40 the higher the success rate for the rocket. </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descr="A graph with orange and blue dots&#10;&#10;Description automatically generated">
            <a:extLst>
              <a:ext uri="{FF2B5EF4-FFF2-40B4-BE49-F238E27FC236}">
                <a16:creationId xmlns:a16="http://schemas.microsoft.com/office/drawing/2014/main" id="{48187854-8D7C-F0DB-24EC-AA8A3849BC07}"/>
              </a:ext>
            </a:extLst>
          </p:cNvPr>
          <p:cNvPicPr>
            <a:picLocks noChangeAspect="1"/>
          </p:cNvPicPr>
          <p:nvPr/>
        </p:nvPicPr>
        <p:blipFill>
          <a:blip r:embed="rId3"/>
          <a:stretch>
            <a:fillRect/>
          </a:stretch>
        </p:blipFill>
        <p:spPr>
          <a:xfrm>
            <a:off x="906389" y="2960914"/>
            <a:ext cx="10153497" cy="3167743"/>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82114"/>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From the plot, we can see that ES-L1, GEO, HEO, SSO, VLEO had the most success rate.</a:t>
            </a: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F7A8607C-08BA-7A08-8E7D-3C075F4E3835}"/>
              </a:ext>
            </a:extLst>
          </p:cNvPr>
          <p:cNvPicPr>
            <a:picLocks noChangeAspect="1"/>
          </p:cNvPicPr>
          <p:nvPr/>
        </p:nvPicPr>
        <p:blipFill>
          <a:blip r:embed="rId3"/>
          <a:stretch>
            <a:fillRect/>
          </a:stretch>
        </p:blipFill>
        <p:spPr>
          <a:xfrm>
            <a:off x="5557434" y="1790558"/>
            <a:ext cx="6149873" cy="3276884"/>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6"/>
            <a:ext cx="10779732" cy="1108873"/>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plot below shows the Flight Number vs. Orbit type. We observe that in the LEO orbit, success is related to the number of flights whereas in the GTO orbit, there is no relationship between flight number and the orbit.</a:t>
            </a:r>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descr="A graph showing a number of dots&#10;&#10;Description automatically generated">
            <a:extLst>
              <a:ext uri="{FF2B5EF4-FFF2-40B4-BE49-F238E27FC236}">
                <a16:creationId xmlns:a16="http://schemas.microsoft.com/office/drawing/2014/main" id="{05174C81-2FB6-DE81-0C31-0AACD633CA42}"/>
              </a:ext>
            </a:extLst>
          </p:cNvPr>
          <p:cNvPicPr>
            <a:picLocks noChangeAspect="1"/>
          </p:cNvPicPr>
          <p:nvPr/>
        </p:nvPicPr>
        <p:blipFill>
          <a:blip r:embed="rId3"/>
          <a:stretch>
            <a:fillRect/>
          </a:stretch>
        </p:blipFill>
        <p:spPr>
          <a:xfrm>
            <a:off x="1058842" y="3335298"/>
            <a:ext cx="9935729" cy="2771588"/>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57400"/>
            <a:ext cx="10594675" cy="936171"/>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can observe that with heavy payloads, the successful landing are more for PO, LEO and ISS orbits.</a:t>
            </a:r>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descr="A graph of a graph&#10;&#10;Description automatically generated with medium confidence">
            <a:extLst>
              <a:ext uri="{FF2B5EF4-FFF2-40B4-BE49-F238E27FC236}">
                <a16:creationId xmlns:a16="http://schemas.microsoft.com/office/drawing/2014/main" id="{C40DE76F-409C-84FA-6957-B4FECF470C66}"/>
              </a:ext>
            </a:extLst>
          </p:cNvPr>
          <p:cNvPicPr>
            <a:picLocks noChangeAspect="1"/>
          </p:cNvPicPr>
          <p:nvPr/>
        </p:nvPicPr>
        <p:blipFill>
          <a:blip r:embed="rId3"/>
          <a:stretch>
            <a:fillRect/>
          </a:stretch>
        </p:blipFill>
        <p:spPr>
          <a:xfrm>
            <a:off x="1198694" y="2993571"/>
            <a:ext cx="10352868" cy="2928258"/>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2069757"/>
            <a:ext cx="393223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From the plot, we can observe that success rate since 2013 kept on increasing till 2020.</a:t>
            </a:r>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descr="A graph showing a line going up&#10;&#10;Description automatically generated">
            <a:extLst>
              <a:ext uri="{FF2B5EF4-FFF2-40B4-BE49-F238E27FC236}">
                <a16:creationId xmlns:a16="http://schemas.microsoft.com/office/drawing/2014/main" id="{B6BFB5FF-E83D-A919-42CD-D36A4755B419}"/>
              </a:ext>
            </a:extLst>
          </p:cNvPr>
          <p:cNvPicPr>
            <a:picLocks noChangeAspect="1"/>
          </p:cNvPicPr>
          <p:nvPr/>
        </p:nvPicPr>
        <p:blipFill>
          <a:blip r:embed="rId3"/>
          <a:stretch>
            <a:fillRect/>
          </a:stretch>
        </p:blipFill>
        <p:spPr>
          <a:xfrm>
            <a:off x="4614194" y="1676254"/>
            <a:ext cx="5989839" cy="3353091"/>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2225219"/>
            <a:ext cx="4814361" cy="1897289"/>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used the key word DISTINCT to show only unique launch sites from the SpaceX data.</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pic>
        <p:nvPicPr>
          <p:cNvPr id="6" name="Picture 5" descr="A screenshot of a computer&#10;&#10;Description automatically generated">
            <a:extLst>
              <a:ext uri="{FF2B5EF4-FFF2-40B4-BE49-F238E27FC236}">
                <a16:creationId xmlns:a16="http://schemas.microsoft.com/office/drawing/2014/main" id="{BE20F8E2-4DBA-8120-4100-3BD66B4F9AEA}"/>
              </a:ext>
            </a:extLst>
          </p:cNvPr>
          <p:cNvPicPr>
            <a:picLocks noChangeAspect="1"/>
          </p:cNvPicPr>
          <p:nvPr/>
        </p:nvPicPr>
        <p:blipFill>
          <a:blip r:embed="rId3"/>
          <a:stretch>
            <a:fillRect/>
          </a:stretch>
        </p:blipFill>
        <p:spPr>
          <a:xfrm>
            <a:off x="5780818" y="1832055"/>
            <a:ext cx="5867908" cy="3314987"/>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993775"/>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 We used the query above to display 5 records where launch sites begin with `CCA`</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6" name="Picture 5" descr="A screenshot of a computer&#10;&#10;Description automatically generated">
            <a:extLst>
              <a:ext uri="{FF2B5EF4-FFF2-40B4-BE49-F238E27FC236}">
                <a16:creationId xmlns:a16="http://schemas.microsoft.com/office/drawing/2014/main" id="{14666D28-BABC-566C-5913-ADB270DBA5F9}"/>
              </a:ext>
            </a:extLst>
          </p:cNvPr>
          <p:cNvPicPr>
            <a:picLocks noChangeAspect="1"/>
          </p:cNvPicPr>
          <p:nvPr/>
        </p:nvPicPr>
        <p:blipFill>
          <a:blip r:embed="rId3"/>
          <a:stretch>
            <a:fillRect/>
          </a:stretch>
        </p:blipFill>
        <p:spPr>
          <a:xfrm>
            <a:off x="1012635" y="2678312"/>
            <a:ext cx="9502964" cy="3641037"/>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1026432"/>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calculated the total payload carried by boosters from NASA as 45596 using the query below</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6" name="Picture 5" descr="A screenshot of a computer&#10;&#10;Description automatically generated">
            <a:extLst>
              <a:ext uri="{FF2B5EF4-FFF2-40B4-BE49-F238E27FC236}">
                <a16:creationId xmlns:a16="http://schemas.microsoft.com/office/drawing/2014/main" id="{0AE5C75F-311C-97B7-1A2C-20D4815420FB}"/>
              </a:ext>
            </a:extLst>
          </p:cNvPr>
          <p:cNvPicPr>
            <a:picLocks noChangeAspect="1"/>
          </p:cNvPicPr>
          <p:nvPr/>
        </p:nvPicPr>
        <p:blipFill>
          <a:blip r:embed="rId3"/>
          <a:stretch>
            <a:fillRect/>
          </a:stretch>
        </p:blipFill>
        <p:spPr>
          <a:xfrm>
            <a:off x="1359327" y="2852056"/>
            <a:ext cx="8350730" cy="3467293"/>
          </a:xfrm>
          <a:prstGeom prst="rect">
            <a:avLst/>
          </a:prstGeom>
        </p:spPr>
      </p:pic>
    </p:spTree>
    <p:extLst>
      <p:ext uri="{BB962C8B-B14F-4D97-AF65-F5344CB8AC3E}">
        <p14:creationId xmlns:p14="http://schemas.microsoft.com/office/powerpoint/2010/main" val="4010014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96111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calculated the average payload mass carried by booster version F9 v1.1 as 2928.4</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pic>
        <p:nvPicPr>
          <p:cNvPr id="6" name="Picture 5" descr="A screenshot of a computer&#10;&#10;Description automatically generated">
            <a:extLst>
              <a:ext uri="{FF2B5EF4-FFF2-40B4-BE49-F238E27FC236}">
                <a16:creationId xmlns:a16="http://schemas.microsoft.com/office/drawing/2014/main" id="{87D31705-5B09-7558-645E-D93C7FAAD43F}"/>
              </a:ext>
            </a:extLst>
          </p:cNvPr>
          <p:cNvPicPr>
            <a:picLocks noChangeAspect="1"/>
          </p:cNvPicPr>
          <p:nvPr/>
        </p:nvPicPr>
        <p:blipFill>
          <a:blip r:embed="rId3"/>
          <a:stretch>
            <a:fillRect/>
          </a:stretch>
        </p:blipFill>
        <p:spPr>
          <a:xfrm>
            <a:off x="1949926" y="2958641"/>
            <a:ext cx="8718073" cy="3224445"/>
          </a:xfrm>
          <a:prstGeom prst="rect">
            <a:avLst/>
          </a:prstGeom>
        </p:spPr>
      </p:pic>
    </p:spTree>
    <p:extLst>
      <p:ext uri="{BB962C8B-B14F-4D97-AF65-F5344CB8AC3E}">
        <p14:creationId xmlns:p14="http://schemas.microsoft.com/office/powerpoint/2010/main" val="2735560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1026432"/>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rPr>
              <a:t>• We observed that the dates of the first successful landing outcome on ground pad was 22nd December 2015</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pic>
        <p:nvPicPr>
          <p:cNvPr id="6" name="Picture 5" descr="A screenshot of a computer program&#10;&#10;Description automatically generated">
            <a:extLst>
              <a:ext uri="{FF2B5EF4-FFF2-40B4-BE49-F238E27FC236}">
                <a16:creationId xmlns:a16="http://schemas.microsoft.com/office/drawing/2014/main" id="{03EC09AE-D547-07AF-1819-903ABAE58315}"/>
              </a:ext>
            </a:extLst>
          </p:cNvPr>
          <p:cNvPicPr>
            <a:picLocks noChangeAspect="1"/>
          </p:cNvPicPr>
          <p:nvPr/>
        </p:nvPicPr>
        <p:blipFill>
          <a:blip r:embed="rId3"/>
          <a:stretch>
            <a:fillRect/>
          </a:stretch>
        </p:blipFill>
        <p:spPr>
          <a:xfrm>
            <a:off x="896633" y="2685412"/>
            <a:ext cx="9492342" cy="3824243"/>
          </a:xfrm>
          <a:prstGeom prst="rect">
            <a:avLst/>
          </a:prstGeom>
        </p:spPr>
      </p:pic>
    </p:spTree>
    <p:extLst>
      <p:ext uri="{BB962C8B-B14F-4D97-AF65-F5344CB8AC3E}">
        <p14:creationId xmlns:p14="http://schemas.microsoft.com/office/powerpoint/2010/main" val="1434679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1603375"/>
          </a:xfrm>
          <a:prstGeom prst="rect">
            <a:avLst/>
          </a:prstGeom>
        </p:spPr>
        <p:txBody>
          <a:bodyPr lIns="91440" tIns="45720" rIns="91440" bIns="45720" anchor="t">
            <a:normAutofit/>
          </a:bodyPr>
          <a:lstStyle/>
          <a:p>
            <a:pPr marL="0" indent="0">
              <a:lnSpc>
                <a:spcPct val="100000"/>
              </a:lnSpc>
              <a:spcBef>
                <a:spcPts val="1400"/>
              </a:spcBef>
              <a:buNone/>
            </a:pPr>
            <a:r>
              <a:rPr lang="en-US" sz="2200" dirty="0">
                <a:solidFill>
                  <a:schemeClr val="accent3">
                    <a:lumMod val="25000"/>
                  </a:schemeClr>
                </a:solidFill>
                <a:latin typeface="Abadi"/>
              </a:rPr>
              <a:t>• We used the WHERE clause to filter for boosters which have successfully landed on drone ship and applied the AND condition to determine successful landing with payload mass greater than 4000 but less than 6000</a:t>
            </a:r>
            <a:endParaRPr lang="en-US" sz="2200" dirty="0">
              <a:solidFill>
                <a:schemeClr val="accent3">
                  <a:lumMod val="25000"/>
                </a:schemeClr>
              </a:solidFill>
              <a:latin typeface="Abadi" panose="020B0604020104020204" pitchFamily="34" charset="0"/>
            </a:endParaRP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pic>
        <p:nvPicPr>
          <p:cNvPr id="3" name="Picture 2" descr="A screenshot of a computer program&#10;&#10;Description automatically generated">
            <a:extLst>
              <a:ext uri="{FF2B5EF4-FFF2-40B4-BE49-F238E27FC236}">
                <a16:creationId xmlns:a16="http://schemas.microsoft.com/office/drawing/2014/main" id="{740341C5-3A36-865F-99F9-D9C60825D99D}"/>
              </a:ext>
            </a:extLst>
          </p:cNvPr>
          <p:cNvPicPr>
            <a:picLocks noChangeAspect="1"/>
          </p:cNvPicPr>
          <p:nvPr/>
        </p:nvPicPr>
        <p:blipFill>
          <a:blip r:embed="rId3"/>
          <a:stretch>
            <a:fillRect/>
          </a:stretch>
        </p:blipFill>
        <p:spPr>
          <a:xfrm>
            <a:off x="2362488" y="2849533"/>
            <a:ext cx="5921253" cy="4008467"/>
          </a:xfrm>
          <a:prstGeom prst="rect">
            <a:avLst/>
          </a:prstGeom>
        </p:spPr>
      </p:pic>
    </p:spTree>
    <p:extLst>
      <p:ext uri="{BB962C8B-B14F-4D97-AF65-F5344CB8AC3E}">
        <p14:creationId xmlns:p14="http://schemas.microsoft.com/office/powerpoint/2010/main" val="63939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797832"/>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used wildcard like ‘%’ to filter for WHERE </a:t>
            </a:r>
            <a:r>
              <a:rPr lang="en-US" sz="2200" dirty="0" err="1">
                <a:solidFill>
                  <a:schemeClr val="accent3">
                    <a:lumMod val="25000"/>
                  </a:schemeClr>
                </a:solidFill>
                <a:latin typeface="Abadi" panose="020B0604020104020204" pitchFamily="34" charset="0"/>
              </a:rPr>
              <a:t>MissionOutcome</a:t>
            </a:r>
            <a:r>
              <a:rPr lang="en-US" sz="2200" dirty="0">
                <a:solidFill>
                  <a:schemeClr val="accent3">
                    <a:lumMod val="25000"/>
                  </a:schemeClr>
                </a:solidFill>
                <a:latin typeface="Abadi" panose="020B0604020104020204" pitchFamily="34" charset="0"/>
              </a:rPr>
              <a:t> was a success or a failure.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pic>
        <p:nvPicPr>
          <p:cNvPr id="6" name="Picture 5" descr="A screenshot of a computer program&#10;&#10;Description automatically generated">
            <a:extLst>
              <a:ext uri="{FF2B5EF4-FFF2-40B4-BE49-F238E27FC236}">
                <a16:creationId xmlns:a16="http://schemas.microsoft.com/office/drawing/2014/main" id="{80FF0D7C-6005-030D-670F-D4FE12635223}"/>
              </a:ext>
            </a:extLst>
          </p:cNvPr>
          <p:cNvPicPr>
            <a:picLocks noChangeAspect="1"/>
          </p:cNvPicPr>
          <p:nvPr/>
        </p:nvPicPr>
        <p:blipFill>
          <a:blip r:embed="rId3"/>
          <a:stretch>
            <a:fillRect/>
          </a:stretch>
        </p:blipFill>
        <p:spPr>
          <a:xfrm>
            <a:off x="3905457" y="2375621"/>
            <a:ext cx="4244708" cy="4305673"/>
          </a:xfrm>
          <a:prstGeom prst="rect">
            <a:avLst/>
          </a:prstGeom>
        </p:spPr>
      </p:pic>
    </p:spTree>
    <p:extLst>
      <p:ext uri="{BB962C8B-B14F-4D97-AF65-F5344CB8AC3E}">
        <p14:creationId xmlns:p14="http://schemas.microsoft.com/office/powerpoint/2010/main" val="1756972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4966761" cy="3334204"/>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determined the booster that have carried the maximum payload using a subquery in the WHERE clause and the MAX() function.</a:t>
            </a:r>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pic>
        <p:nvPicPr>
          <p:cNvPr id="6" name="Picture 5" descr="A screenshot of a computer&#10;&#10;Description automatically generated">
            <a:extLst>
              <a:ext uri="{FF2B5EF4-FFF2-40B4-BE49-F238E27FC236}">
                <a16:creationId xmlns:a16="http://schemas.microsoft.com/office/drawing/2014/main" id="{0E600CE0-8C68-9366-33DA-BFFE57273592}"/>
              </a:ext>
            </a:extLst>
          </p:cNvPr>
          <p:cNvPicPr>
            <a:picLocks noChangeAspect="1"/>
          </p:cNvPicPr>
          <p:nvPr/>
        </p:nvPicPr>
        <p:blipFill>
          <a:blip r:embed="rId3"/>
          <a:stretch>
            <a:fillRect/>
          </a:stretch>
        </p:blipFill>
        <p:spPr>
          <a:xfrm>
            <a:off x="6115889" y="1396431"/>
            <a:ext cx="5342083" cy="4740051"/>
          </a:xfrm>
          <a:prstGeom prst="rect">
            <a:avLst/>
          </a:prstGeom>
        </p:spPr>
      </p:pic>
    </p:spTree>
    <p:extLst>
      <p:ext uri="{BB962C8B-B14F-4D97-AF65-F5344CB8AC3E}">
        <p14:creationId xmlns:p14="http://schemas.microsoft.com/office/powerpoint/2010/main" val="356664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126591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We used a combinations of the WHERE clause, LIKE, AND, and BETWEEN conditions to filter for failed landing outcomes in drone ship, their booster versions, and launch site names for year 2015</a:t>
            </a:r>
            <a:endParaRPr lang="en-US"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pic>
        <p:nvPicPr>
          <p:cNvPr id="6" name="Picture 5" descr="A screenshot of a computer&#10;&#10;Description automatically generated">
            <a:extLst>
              <a:ext uri="{FF2B5EF4-FFF2-40B4-BE49-F238E27FC236}">
                <a16:creationId xmlns:a16="http://schemas.microsoft.com/office/drawing/2014/main" id="{152BA22B-6D70-22BE-20A2-BF91E69B40F4}"/>
              </a:ext>
            </a:extLst>
          </p:cNvPr>
          <p:cNvPicPr>
            <a:picLocks noChangeAspect="1"/>
          </p:cNvPicPr>
          <p:nvPr/>
        </p:nvPicPr>
        <p:blipFill>
          <a:blip r:embed="rId3"/>
          <a:stretch>
            <a:fillRect/>
          </a:stretch>
        </p:blipFill>
        <p:spPr>
          <a:xfrm>
            <a:off x="1484986" y="3239319"/>
            <a:ext cx="8878214" cy="3066653"/>
          </a:xfrm>
          <a:prstGeom prst="rect">
            <a:avLst/>
          </a:prstGeom>
        </p:spPr>
      </p:pic>
    </p:spTree>
    <p:extLst>
      <p:ext uri="{BB962C8B-B14F-4D97-AF65-F5344CB8AC3E}">
        <p14:creationId xmlns:p14="http://schemas.microsoft.com/office/powerpoint/2010/main" val="139843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5021190"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We selected Landing outcomes and the COUNT of landing outcomes from the data and used the WHERE clause to filter for landing outcomes BETWEEN 2010-06-04 to 2010-03-20. </a:t>
            </a:r>
          </a:p>
          <a:p>
            <a:pPr marL="0" indent="0">
              <a:lnSpc>
                <a:spcPct val="100000"/>
              </a:lnSpc>
              <a:spcBef>
                <a:spcPts val="1400"/>
              </a:spcBef>
              <a:buNone/>
            </a:pPr>
            <a:r>
              <a:rPr lang="en-US" sz="2200" dirty="0">
                <a:solidFill>
                  <a:schemeClr val="accent3">
                    <a:lumMod val="25000"/>
                  </a:schemeClr>
                </a:solidFill>
                <a:latin typeface="Abadi"/>
              </a:rPr>
              <a:t>• We applied the GROUP BY clause to group the landing outcomes and the ORDER BY clause to order the grouped landing outcome in descending order</a:t>
            </a:r>
            <a:endParaRPr lang="en-US" sz="2200" dirty="0">
              <a:solidFill>
                <a:schemeClr val="accent3">
                  <a:lumMod val="25000"/>
                </a:schemeClr>
              </a:solidFill>
              <a:latin typeface="Abadi" panose="020B0604020104020204" pitchFamily="34" charset="0"/>
            </a:endParaRP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pic>
        <p:nvPicPr>
          <p:cNvPr id="6" name="Picture 5" descr="A screenshot of a computer&#10;&#10;Description automatically generated">
            <a:extLst>
              <a:ext uri="{FF2B5EF4-FFF2-40B4-BE49-F238E27FC236}">
                <a16:creationId xmlns:a16="http://schemas.microsoft.com/office/drawing/2014/main" id="{A2676A28-A99E-E900-31EA-A971808DFA41}"/>
              </a:ext>
            </a:extLst>
          </p:cNvPr>
          <p:cNvPicPr>
            <a:picLocks noChangeAspect="1"/>
          </p:cNvPicPr>
          <p:nvPr/>
        </p:nvPicPr>
        <p:blipFill>
          <a:blip r:embed="rId3"/>
          <a:stretch>
            <a:fillRect/>
          </a:stretch>
        </p:blipFill>
        <p:spPr>
          <a:xfrm>
            <a:off x="5791201" y="1640522"/>
            <a:ext cx="5143946" cy="4016088"/>
          </a:xfrm>
          <a:prstGeom prst="rect">
            <a:avLst/>
          </a:prstGeom>
        </p:spPr>
      </p:pic>
    </p:spTree>
    <p:extLst>
      <p:ext uri="{BB962C8B-B14F-4D97-AF65-F5344CB8AC3E}">
        <p14:creationId xmlns:p14="http://schemas.microsoft.com/office/powerpoint/2010/main" val="3975168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35</a:t>
            </a:fld>
            <a:endParaRPr lang="en-US"/>
          </a:p>
        </p:txBody>
      </p:sp>
      <p:pic>
        <p:nvPicPr>
          <p:cNvPr id="6" name="Content Placeholder 5" descr="A map of the world&#10;&#10;Description automatically generated">
            <a:extLst>
              <a:ext uri="{FF2B5EF4-FFF2-40B4-BE49-F238E27FC236}">
                <a16:creationId xmlns:a16="http://schemas.microsoft.com/office/drawing/2014/main" id="{2E9DF175-43D1-D43E-E6D4-92C795F3169F}"/>
              </a:ext>
            </a:extLst>
          </p:cNvPr>
          <p:cNvPicPr>
            <a:picLocks noGrp="1" noChangeAspect="1"/>
          </p:cNvPicPr>
          <p:nvPr>
            <p:ph idx="4294967295"/>
          </p:nvPr>
        </p:nvPicPr>
        <p:blipFill>
          <a:blip r:embed="rId3"/>
          <a:stretch>
            <a:fillRect/>
          </a:stretch>
        </p:blipFill>
        <p:spPr>
          <a:xfrm>
            <a:off x="769938" y="1826798"/>
            <a:ext cx="9745662" cy="4348992"/>
          </a:xfrm>
          <a:prstGeom prst="rect">
            <a:avLst/>
          </a:prstGeom>
        </p:spPr>
      </p:pic>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1&gt;</a:t>
            </a:r>
          </a:p>
        </p:txBody>
      </p:sp>
    </p:spTree>
    <p:extLst>
      <p:ext uri="{BB962C8B-B14F-4D97-AF65-F5344CB8AC3E}">
        <p14:creationId xmlns:p14="http://schemas.microsoft.com/office/powerpoint/2010/main" val="981671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pic>
        <p:nvPicPr>
          <p:cNvPr id="4" name="Content Placeholder 3" descr="A screenshot of a computer screen&#10;&#10;Description automatically generated">
            <a:extLst>
              <a:ext uri="{FF2B5EF4-FFF2-40B4-BE49-F238E27FC236}">
                <a16:creationId xmlns:a16="http://schemas.microsoft.com/office/drawing/2014/main" id="{5C484CBE-205D-BD20-6A85-2F7B0966893F}"/>
              </a:ext>
            </a:extLst>
          </p:cNvPr>
          <p:cNvPicPr>
            <a:picLocks noGrp="1" noChangeAspect="1"/>
          </p:cNvPicPr>
          <p:nvPr>
            <p:ph idx="4294967295"/>
          </p:nvPr>
        </p:nvPicPr>
        <p:blipFill>
          <a:blip r:embed="rId3"/>
          <a:stretch>
            <a:fillRect/>
          </a:stretch>
        </p:blipFill>
        <p:spPr>
          <a:xfrm>
            <a:off x="769938" y="1849558"/>
            <a:ext cx="9745662" cy="4303471"/>
          </a:xfrm>
          <a:prstGeom prst="rect">
            <a:avLst/>
          </a:prstGeom>
        </p:spPr>
      </p:pic>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2&gt;</a:t>
            </a:r>
          </a:p>
        </p:txBody>
      </p:sp>
    </p:spTree>
    <p:extLst>
      <p:ext uri="{BB962C8B-B14F-4D97-AF65-F5344CB8AC3E}">
        <p14:creationId xmlns:p14="http://schemas.microsoft.com/office/powerpoint/2010/main" val="239597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pic>
        <p:nvPicPr>
          <p:cNvPr id="4" name="Content Placeholder 3" descr="A collage of a map&#10;&#10;Description automatically generated">
            <a:extLst>
              <a:ext uri="{FF2B5EF4-FFF2-40B4-BE49-F238E27FC236}">
                <a16:creationId xmlns:a16="http://schemas.microsoft.com/office/drawing/2014/main" id="{263E331D-D3CD-0FCD-6765-77679A1B4F2F}"/>
              </a:ext>
            </a:extLst>
          </p:cNvPr>
          <p:cNvPicPr>
            <a:picLocks noGrp="1" noChangeAspect="1"/>
          </p:cNvPicPr>
          <p:nvPr>
            <p:ph idx="4294967295"/>
          </p:nvPr>
        </p:nvPicPr>
        <p:blipFill>
          <a:blip r:embed="rId3"/>
          <a:stretch>
            <a:fillRect/>
          </a:stretch>
        </p:blipFill>
        <p:spPr>
          <a:xfrm>
            <a:off x="769938" y="1693454"/>
            <a:ext cx="8597900" cy="4309292"/>
          </a:xfrm>
          <a:prstGeom prst="rect">
            <a:avLst/>
          </a:prstGeom>
        </p:spPr>
      </p:pic>
      <p:sp>
        <p:nvSpPr>
          <p:cNvPr id="8" name="Title 1">
            <a:extLst>
              <a:ext uri="{FF2B5EF4-FFF2-40B4-BE49-F238E27FC236}">
                <a16:creationId xmlns:a16="http://schemas.microsoft.com/office/drawing/2014/main" id="{34C97452-C78A-4701-B8AB-ABFE63D5BED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&lt;Folium Map Screenshot 3&gt;</a:t>
            </a:r>
          </a:p>
        </p:txBody>
      </p:sp>
    </p:spTree>
    <p:extLst>
      <p:ext uri="{BB962C8B-B14F-4D97-AF65-F5344CB8AC3E}">
        <p14:creationId xmlns:p14="http://schemas.microsoft.com/office/powerpoint/2010/main" val="232499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pic>
        <p:nvPicPr>
          <p:cNvPr id="4" name="Content Placeholder 3" descr="A colorful pie chart with text&#10;&#10;Description automatically generated">
            <a:extLst>
              <a:ext uri="{FF2B5EF4-FFF2-40B4-BE49-F238E27FC236}">
                <a16:creationId xmlns:a16="http://schemas.microsoft.com/office/drawing/2014/main" id="{0C3E56ED-2055-7EF2-84E8-8DB218E59C79}"/>
              </a:ext>
            </a:extLst>
          </p:cNvPr>
          <p:cNvPicPr>
            <a:picLocks noGrp="1" noChangeAspect="1"/>
          </p:cNvPicPr>
          <p:nvPr>
            <p:ph idx="4294967295"/>
          </p:nvPr>
        </p:nvPicPr>
        <p:blipFill>
          <a:blip r:embed="rId3"/>
          <a:stretch>
            <a:fillRect/>
          </a:stretch>
        </p:blipFill>
        <p:spPr>
          <a:xfrm>
            <a:off x="769938" y="2008547"/>
            <a:ext cx="9745662" cy="3985494"/>
          </a:xfrm>
          <a:prstGeom prst="rect">
            <a:avLst/>
          </a:prstGeom>
        </p:spPr>
      </p:pic>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1&gt;</a:t>
            </a:r>
          </a:p>
        </p:txBody>
      </p:sp>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pic>
        <p:nvPicPr>
          <p:cNvPr id="4" name="Content Placeholder 3" descr="A blue and red pie chart&#10;&#10;Description automatically generated">
            <a:extLst>
              <a:ext uri="{FF2B5EF4-FFF2-40B4-BE49-F238E27FC236}">
                <a16:creationId xmlns:a16="http://schemas.microsoft.com/office/drawing/2014/main" id="{92B944AA-685F-1B3C-6AAD-4DDB72D5A323}"/>
              </a:ext>
            </a:extLst>
          </p:cNvPr>
          <p:cNvPicPr>
            <a:picLocks noGrp="1" noChangeAspect="1"/>
          </p:cNvPicPr>
          <p:nvPr>
            <p:ph idx="4294967295"/>
          </p:nvPr>
        </p:nvPicPr>
        <p:blipFill>
          <a:blip r:embed="rId3"/>
          <a:stretch>
            <a:fillRect/>
          </a:stretch>
        </p:blipFill>
        <p:spPr>
          <a:xfrm>
            <a:off x="2420150" y="2035163"/>
            <a:ext cx="7178662" cy="3932261"/>
          </a:xfrm>
          <a:prstGeom prst="rect">
            <a:avLst/>
          </a:prstGeom>
        </p:spPr>
      </p:pic>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2&gt;</a:t>
            </a:r>
          </a:p>
        </p:txBody>
      </p:sp>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pic>
        <p:nvPicPr>
          <p:cNvPr id="4" name="Content Placeholder 3" descr="A comparison of weights with different colored circles&#10;&#10;Description automatically generated with medium confidence">
            <a:extLst>
              <a:ext uri="{FF2B5EF4-FFF2-40B4-BE49-F238E27FC236}">
                <a16:creationId xmlns:a16="http://schemas.microsoft.com/office/drawing/2014/main" id="{1AEE28AA-FC4D-C01D-D6B8-B4E9F0AF41BF}"/>
              </a:ext>
            </a:extLst>
          </p:cNvPr>
          <p:cNvPicPr>
            <a:picLocks noGrp="1" noChangeAspect="1"/>
          </p:cNvPicPr>
          <p:nvPr>
            <p:ph idx="4294967295"/>
          </p:nvPr>
        </p:nvPicPr>
        <p:blipFill>
          <a:blip r:embed="rId3"/>
          <a:stretch>
            <a:fillRect/>
          </a:stretch>
        </p:blipFill>
        <p:spPr>
          <a:xfrm>
            <a:off x="916819" y="2458110"/>
            <a:ext cx="10120237" cy="3086367"/>
          </a:xfrm>
          <a:prstGeom prst="rect">
            <a:avLst/>
          </a:prstGeom>
        </p:spPr>
      </p:pic>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&lt;Dashboard Screenshot 3&gt;</a:t>
            </a:r>
          </a:p>
        </p:txBody>
      </p:sp>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11421990" cy="3811588"/>
          </a:xfrm>
          <a:prstGeom prst="rect">
            <a:avLst/>
          </a:prstGeom>
        </p:spPr>
        <p:txBody>
          <a:bodyPr vert="horz" lIns="91440" tIns="45720" rIns="91440" bIns="45720" rtlCol="0" anchor="t">
            <a:normAutofit/>
          </a:bodyPr>
          <a:lstStyle/>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3" name="Picture 2" descr="A screen shot of a computer&#10;&#10;Description automatically generated">
            <a:extLst>
              <a:ext uri="{FF2B5EF4-FFF2-40B4-BE49-F238E27FC236}">
                <a16:creationId xmlns:a16="http://schemas.microsoft.com/office/drawing/2014/main" id="{FE16F2F6-DFFC-0831-3B57-2F9B0AC4C92E}"/>
              </a:ext>
            </a:extLst>
          </p:cNvPr>
          <p:cNvPicPr>
            <a:picLocks noChangeAspect="1"/>
          </p:cNvPicPr>
          <p:nvPr/>
        </p:nvPicPr>
        <p:blipFill>
          <a:blip r:embed="rId3"/>
          <a:stretch>
            <a:fillRect/>
          </a:stretch>
        </p:blipFill>
        <p:spPr>
          <a:xfrm>
            <a:off x="906330" y="1912488"/>
            <a:ext cx="10379339" cy="4113085"/>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1" y="2057400"/>
            <a:ext cx="4313618" cy="381158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The confusion matrix for the decision tree classifier shows that the classifier can distinguish between the different classes. The major problem is the false positives .i.e., unsuccessful landing marked as successful landing by the classifier.</a:t>
            </a:r>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pic>
        <p:nvPicPr>
          <p:cNvPr id="3" name="Picture 2" descr="A diagram of different colors&#10;&#10;Description automatically generated">
            <a:extLst>
              <a:ext uri="{FF2B5EF4-FFF2-40B4-BE49-F238E27FC236}">
                <a16:creationId xmlns:a16="http://schemas.microsoft.com/office/drawing/2014/main" id="{23933A0B-21A9-F945-D814-F16B3D723083}"/>
              </a:ext>
            </a:extLst>
          </p:cNvPr>
          <p:cNvPicPr>
            <a:picLocks noChangeAspect="1"/>
          </p:cNvPicPr>
          <p:nvPr/>
        </p:nvPicPr>
        <p:blipFill>
          <a:blip r:embed="rId3"/>
          <a:stretch>
            <a:fillRect/>
          </a:stretch>
        </p:blipFill>
        <p:spPr>
          <a:xfrm>
            <a:off x="6199835" y="1958212"/>
            <a:ext cx="5258137" cy="3979688"/>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80897" y="1875054"/>
            <a:ext cx="103551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We can conclude that: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The larger the flight amount at a launch site, the greater the success rate at a launch site.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Launch success rate started to increase in 2013 till 2020.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Orbits ES-L1, GEO, HEO, SSO, VLEO had the most success rate. • KSC LC-39A had the most successful launches of any sites. </a:t>
            </a:r>
          </a:p>
          <a:p>
            <a:pPr marL="0" indent="0">
              <a:lnSpc>
                <a:spcPct val="100000"/>
              </a:lnSpc>
              <a:spcBef>
                <a:spcPts val="1400"/>
              </a:spcBef>
              <a:buNone/>
            </a:pPr>
            <a:r>
              <a:rPr lang="en-US" sz="2200" dirty="0">
                <a:solidFill>
                  <a:schemeClr val="accent3">
                    <a:lumMod val="25000"/>
                  </a:schemeClr>
                </a:solidFill>
                <a:latin typeface="Abadi" panose="020B0604020104020204" pitchFamily="34" charset="0"/>
              </a:rPr>
              <a:t>• The Decision tree classifier is the best machine learning algorithm for this task.</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1635</Words>
  <Application>Microsoft Office PowerPoint</Application>
  <PresentationFormat>Widescreen</PresentationFormat>
  <Paragraphs>188</Paragraphs>
  <Slides>46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Abadi</vt:lpstr>
      <vt:lpstr>Arial</vt:lpstr>
      <vt:lpstr>Calibri</vt:lpstr>
      <vt:lpstr>IBM Plex Mono SemiBold</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&lt;Title&gt;</dc:title>
  <dc:creator>YAN Luo</dc:creator>
  <cp:lastModifiedBy>Komal Rasheed</cp:lastModifiedBy>
  <cp:revision>245</cp:revision>
  <dcterms:created xsi:type="dcterms:W3CDTF">2021-04-29T18:58:34Z</dcterms:created>
  <dcterms:modified xsi:type="dcterms:W3CDTF">2024-04-20T21:05:13Z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